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Plus Jakarta Sans"/>
      <ns0:bold ns1:id="rIdFont14"/>
    </ns0:embeddedFont>
    <ns0:embeddedFont>
      <ns0:font typeface="Inter"/>
      <ns0:italic ns1:id="rIdFont15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5889ad58-4e0e-4359-b3be-193b57551790.fntdata" /><ns0:Relationship Id="rIdFont15" Type="http://schemas.openxmlformats.org/officeDocument/2006/relationships/font" Target="fonts/93a13d2a-ae5f-4842-bbc9-701b9476e4fd.fntdata" /><ns0:Relationship Id="rIdFont16" Type="http://schemas.openxmlformats.org/officeDocument/2006/relationships/font" Target="fonts/93a6c608-3c18-4cd8-91bc-ae35c8b8c9c2.fntdata" /><ns0:Relationship Id="rIdFont17" Type="http://schemas.openxmlformats.org/officeDocument/2006/relationships/font" Target="fonts/1f7196bc-f8b5-49f5-aed2-0f53e851da4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62175"/>
            <a:ext cx="11144250" cy="2533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Inter"/>
              </a:rPr>
              <a:t>Enterprise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447925"/>
            <a:ext cx="11620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Plus Jakarta Sans"/>
              </a:rPr>
              <a:t>AML, KYC &amp; Financial Crime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162425"/>
            <a:ext cx="11620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Inter"/>
              </a:rPr>
              <a:t>Institutional architecture, real-world case simulations, and advanced risk scoring frameworks.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638425"/>
            <a:ext cx="76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145851" y="2962275"/>
            <a:ext cx="12483703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1E3A8A"/>
                </a:solidFill>
                <a:latin typeface="Plus Jakarta Sans"/>
              </a:rPr>
              <a:t>Executive Summary &amp; Compliance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437" y="3819525"/>
            <a:ext cx="112871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Mitigating multi-layered financial crime risks through standardized regulatory controls and automated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671762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2671762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20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Regulatory Framework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4662"/>
            <a:ext cx="6100762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Plus Jakarta Sans"/>
              </a:rPr>
              <a:t>Risk-Based Approach (RBA)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43287"/>
            <a:ext cx="4743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Establishing tiered customer segmentation (Low, Medium, High risk) based on jurisdiction exposure, product type, and transactional behavior to optimize compliance resource allocation.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014662"/>
            <a:ext cx="55626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Plus Jakarta Sans"/>
              </a:rPr>
              <a:t>Customer Lifecycle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443287"/>
            <a:ext cx="47434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Enforcing rigorous CDD for standard onboarding and mandatory Enhanced Due Diligence (EDD) paired with UBO verification for Politically Exposed Persons (PEPs) and complex legal entities.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438400"/>
            <a:ext cx="3492549" cy="2752725"/>
          </a:xfrm>
          <a:prstGeom prst="roundRect">
            <a:avLst>
              <a:gd name="adj" fmla="val 41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9799" y="2438400"/>
            <a:ext cx="3492549" cy="2752725"/>
          </a:xfrm>
          <a:prstGeom prst="roundRect">
            <a:avLst>
              <a:gd name="adj" fmla="val 41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99" y="2438400"/>
            <a:ext cx="3492549" cy="2752725"/>
          </a:xfrm>
          <a:prstGeom prst="roundRect">
            <a:avLst>
              <a:gd name="adj" fmla="val 41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2771775"/>
            <a:ext cx="3905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074" y="2771775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374" y="2771775"/>
            <a:ext cx="3429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20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Core Compliance Pillars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295650"/>
            <a:ext cx="308788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Plus Jakarta Sans"/>
              </a:rPr>
              <a:t>Identity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724275"/>
            <a:ext cx="29972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Automated screening against global watchlists, OFAC lists, and PEP databases using fuzzy logic thresholds.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074" y="3295650"/>
            <a:ext cx="356294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Plus Jakarta Sans"/>
              </a:rPr>
              <a:t>Transaction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3724275"/>
            <a:ext cx="29972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Real-time rule engines detecting velocity anomalies, structuring behaviors, and high-risk corridor transfers.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295650"/>
            <a:ext cx="2900362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E3A8A"/>
                </a:solidFill>
                <a:latin typeface="Plus Jakarta Sans"/>
              </a:rPr>
              <a:t>Case Investigation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3374" y="3724275"/>
            <a:ext cx="29972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Streamlined alert triage, false-positive tuning workflows, and SAR (Suspicial Activity Report)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43025"/>
            <a:ext cx="11049000" cy="4943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20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Risk Scoring Engine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04812" y="4319587"/>
            <a:ext cx="13001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1" u="none">
                <a:solidFill>
                  <a:srgbClr val="334155"/>
                </a:solidFill>
                <a:latin typeface="Inter"/>
              </a:rPr>
              <a:t>Performance metrics demonstrate high detection accuracy while successfully minimizing operational overhead through automated false-positive reduction algorithms.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6262" y="2847975"/>
            <a:ext cx="1884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61170" y="2847975"/>
            <a:ext cx="47032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64437" y="2847975"/>
            <a:ext cx="4451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262" y="3676650"/>
            <a:ext cx="1884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1170" y="3676650"/>
            <a:ext cx="47032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64437" y="3676650"/>
            <a:ext cx="4451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262" y="4505325"/>
            <a:ext cx="1884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1170" y="4505325"/>
            <a:ext cx="47032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64437" y="4505325"/>
            <a:ext cx="4451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262" y="5334000"/>
            <a:ext cx="188490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1170" y="5334000"/>
            <a:ext cx="47032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64437" y="5334000"/>
            <a:ext cx="4451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71500" y="2281237"/>
          <a:ext cx="11039474" cy="30670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84908"/>
                <a:gridCol w="4703266"/>
                <a:gridCol w="4451300"/>
              </a:tblGrid>
              <a:tr h="76676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Case Scenario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Typology Description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Mitigation Control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6676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Shell Company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Multi-layered offshore structures hiding Ultimate Beneficial Owners (UBO).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Mandatory registry cross-check &amp; UBO ownership threshold mapping.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676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Smurfing / Structuring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Splitting cash deposits just below the $10,000 regulatory threshold.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Velocity aggregation rules &amp; cumulative daily threshold alerts.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6764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Sanctions Evasion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Using alternative phonetic spellings or intermediary conduits.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Fuzzy logic name matching &amp; secondary identifier verification.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1500" y="571500"/>
            <a:ext cx="11620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Plus Jakarta Sans"/>
              </a:rPr>
              <a:t>Real-World Case Typologies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404812" y="2528887"/>
            <a:ext cx="13001625" cy="866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1E3A8A"/>
                </a:solidFill>
                <a:latin typeface="Plus Jakarta Sans"/>
              </a:rPr>
              <a:t>Compliance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404812" y="3586162"/>
            <a:ext cx="130016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Protecting global financial systems through rigorous risk intelligence and proactive threat mitigation.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04812" y="4129087"/>
            <a:ext cx="13001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GitHub Repository: aml-kyc-fincrime-compliance-blueprint | Architecture Version v0.1.0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